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media/image8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B68109-F66E-4CBB-853A-80A378762957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BA3A90-8FFE-4E3D-9C47-2D232D9164B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2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658E05-CC85-47FB-9535-432DD7E59A3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4200D2-8E3E-4BDD-969A-6AA61A6EC365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0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201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D49EE2-F131-4A16-B52A-3BCB714E9812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7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638252-EECB-4798-9057-27EE94C460D4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50B6D7-F660-4FF8-8FA6-A025CC75A620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B5FE32-0894-432C-8985-29B8E93F8F01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B39DD-32E8-4C02-94C2-2DE78DB31435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8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8B8C52-0706-4A73-ABF2-CCD8F52A66CA}" type="slidenum">
              <a: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9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4F9DDA-672A-4491-AB76-502BD4587DFF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google.com/search?q=Desjardins+Credit+Union&amp;sca_esv=62b03b7345eac9c6&amp;sxsrf=ANbL-n7DSpr-LO3w9I2LT3fVGZZhAbypIA%3A1771965025445&amp;ei=YQqeaffkGoTLp84Pu63DiAk&amp;biw=1536&amp;bih=776&amp;ved=2ahUKEwjD5vKa_PKSAxU638kDHfpsB74QgK4QegQIBRAB&amp;uact=5&amp;oq=meridian+credit+union+detail&amp;gs_lp=Egxnd3Mtd2l6LXNlcnAiHG1lcmlkaWFuIGNyZWRpdCB1bmlvbiBkZXRhaWwyBRAhGKABMgUQIRigAUjjHlC1BVjkHHABeAGQAQCYAaEBoAHjBqoBAzMuNbgBA8gBAPgBAZgCCaACsAfCAgoQABiwAxjWBBhHwgIEECMYJ8ICChAjGIAEGCcYigXCAgoQABiABBhDGIoFwgIREC4YgAQYsQMY0QMYgwEYxwHCAgUQABiABMICCBAAGIAEGJIDwgIIEAAYgAQYyQPCAgsQLhiABBjHARivAcICFBAuGIAEGJECGMcBGIoFGI4FGK8BwgILEAAYgAQYkQIYigXCAgYQABgWGB7CAgQQIRgVwgIFECEYnwWYAwCIBgGQBgiSBwMzLjagB5czsgcDMi42uAeiB8IHBzAuMy4zLjPIBzaACAA&amp;sclient=gws-wiz-serp&amp;mstk=AUtExfCNulqGdhshFpHSc67yif6zdgmxy6WSzX-zbgxxZj7p5tmLrmV-fQ-BwIPa-ePH_vrqtBtQWu_567WUZx8N3c6oOCT9p2yaKgdVAak3oKKFlragzs7Q2cEWmG6ZzTykqdFv1ffv1O42ucuB3u6tQQWNo33g0Bkw47XqJ0QFftNtF57j-Ojhls6DS1P9VYtgBnY441y61PZhsWAzwpEi6UdXbEy_fJyzLmXthlDzz3Rn87u2q8cWgfNRzT2sizRP0M1KQZzjAORdt75HK60TcF1rrJPSMhYa-sRSyhRZgU4Yqag7uEV4avF4a2qwV7SGLJZkIKyE47LzaYZLMuJfJ8oAE8tb9MrW871dIFjbjyX2Qo9WXvCBmvYD57OOsJ1IOQ&amp;csui=3" TargetMode="External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Banking Risk Analytics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5427720" y="4647600"/>
            <a:ext cx="523980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201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Role – Data Analyst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2" descr="MERIDIAN CREDIT UNION - Updated February 2026 - 4080 Steeles Ave E,  Markham, Ontario - Banks &amp; Credit Unions - Phone Number - Yelp"/>
          <p:cNvPicPr/>
          <p:nvPr/>
        </p:nvPicPr>
        <p:blipFill>
          <a:blip r:embed="rId1"/>
          <a:stretch/>
        </p:blipFill>
        <p:spPr>
          <a:xfrm>
            <a:off x="4395960" y="569160"/>
            <a:ext cx="3019680" cy="247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About Company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en-US" sz="2000" strike="noStrike" u="none">
                <a:solidFill>
                  <a:srgbClr val="333132"/>
                </a:solidFill>
                <a:effectLst/>
                <a:uFillTx/>
                <a:latin typeface="sofia-pro"/>
              </a:rPr>
              <a:t>Meridian is Ontario’s largest credit union, and second largest in Canada, helping to grow the lives of more than 360,000 Members.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Origins:</a:t>
            </a:r>
            <a:r>
              <a:rPr b="0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 Formed in 2011 through a merger involving the former </a:t>
            </a:r>
            <a:r>
              <a:rPr b="1" lang="en-US" sz="2000" strike="noStrike" u="sng">
                <a:solidFill>
                  <a:schemeClr val="dk1"/>
                </a:solidFill>
                <a:effectLst/>
                <a:uFillTx/>
                <a:latin typeface="Google Sans"/>
                <a:hlinkClick r:id="rId1"/>
              </a:rPr>
              <a:t>Desjardins Credit Union</a:t>
            </a:r>
            <a:r>
              <a:rPr b="1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 </a:t>
            </a:r>
            <a:r>
              <a:rPr b="0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in Ontario.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132"/>
                </a:solidFill>
                <a:effectLst/>
                <a:uFillTx/>
                <a:latin typeface="sofia-pro"/>
              </a:rPr>
              <a:t>87 branches and 15 Business Banking Centers across Ontario.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132"/>
                </a:solidFill>
                <a:effectLst/>
                <a:uFillTx/>
                <a:latin typeface="sofia-pro"/>
              </a:rPr>
              <a:t>On-Balance Sheet Assets: $26.8 billion More than 75 years of banking history.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333132"/>
                </a:solidFill>
                <a:effectLst/>
                <a:uFillTx/>
                <a:latin typeface="SofiaProRegular"/>
              </a:rPr>
              <a:t>2,100+</a:t>
            </a:r>
            <a:r>
              <a:rPr b="0" lang="en-US" sz="2000" strike="noStrike" u="none">
                <a:solidFill>
                  <a:srgbClr val="333132"/>
                </a:solidFill>
                <a:effectLst/>
                <a:uFillTx/>
                <a:latin typeface="sofia-pro"/>
              </a:rPr>
              <a:t> employees at Meridian Credit Union.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132"/>
                </a:solidFill>
                <a:effectLst/>
                <a:uFillTx/>
                <a:latin typeface="sofia-pro"/>
              </a:rPr>
              <a:t>Meridian Credit Union Corporate offices in St. Catharines and Toronto.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Subsidiaries:</a:t>
            </a:r>
            <a:r>
              <a:rPr b="0" lang="en-US" sz="2000" strike="noStrike" u="none">
                <a:solidFill>
                  <a:srgbClr val="0a0a0a"/>
                </a:solidFill>
                <a:effectLst/>
                <a:uFillTx/>
                <a:latin typeface="Google Sans"/>
              </a:rPr>
              <a:t> Meridian OneCap Credit Corp and the digital-only bank, motusbank.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 Team Structure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174320" y="1967760"/>
            <a:ext cx="9981000" cy="277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Business Analyst 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Azure Data Engineer(3) 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Cloud/Infrastructure Engineer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Power BI Data Analyst (2) 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Risk Analyst 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Tester (QA)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Scrum Master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Product Owner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 Project Overview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Built an end-to-end banking analytics solution using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Azure Data Factory, Azure SQL, and Power BI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Design a interactive dashboard to deliver real-time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credit risk insights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and improve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decision-making.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Project supports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full load and incremental load.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Solution meets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business values.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97280" y="27000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 Project Architecture Overview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Content Placeholder 4" descr=""/>
          <p:cNvPicPr/>
          <p:nvPr/>
        </p:nvPicPr>
        <p:blipFill>
          <a:blip r:embed="rId1"/>
          <a:stretch/>
        </p:blipFill>
        <p:spPr>
          <a:xfrm>
            <a:off x="1066680" y="2278080"/>
            <a:ext cx="10058040" cy="37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itle 1"/>
          <p:cNvSpPr/>
          <p:nvPr/>
        </p:nvSpPr>
        <p:spPr>
          <a:xfrm>
            <a:off x="1273320" y="1909080"/>
            <a:ext cx="97056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914400">
              <a:lnSpc>
                <a:spcPct val="85000"/>
              </a:lnSpc>
            </a:pPr>
            <a:r>
              <a:rPr b="0" lang="en-US" sz="1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End-to-End Data Analytics Workflow (Azure + Power BI)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Situation (STAR)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058040" cy="385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Bank generate revenue by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lending.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Every loan carries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risk 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due to delay or failure of repayment.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Manual reporting was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difficult and inaccurate.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Limited Visibility 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into high risk customers.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Delay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and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improper decision making process 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due to large number of data.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Overall impact on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Risk Management 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and loan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approval process.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High risk of </a:t>
            </a:r>
            <a:r>
              <a:rPr b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financial loss and liquidity imbalance.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Task(STAR)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058040" cy="385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Collect the data from heterogenous sources.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Build centralized pipeline with incremental load.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Perform data quality and transformation.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Ensure data security based on RBAC.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Define meaningful and interactive KPI’s .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Support agile delivery with clear reporting requirements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Action(STAR)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058040" cy="385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625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Data Extraction and Ingestion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After the approval of feasibility study, data is extracted and load into and ADF pipelines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Azure blob storage( CSV)  - Auto Resolve Integration Runtime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           SQL Server Management Studio -  Self-hosted runtime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Data Quality and Transformation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</a:t>
            </a: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Remove missing and null values.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</a:t>
            </a: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Handle Duplicate records.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Applied data Type casting and standardization.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Add derived columns with Business logics.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Used ADF mapping data flow to sort, aggregate and join the tables.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1" lang="en-US" sz="2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endParaRPr b="0" lang="en-US" sz="2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                 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Action(STAR) cont..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Business Calculations and Enrichments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Add following conditional columns according to  Business perspective by using derived column activity in ADF.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Income Category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Engagement Days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Engagement timeframe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Cleaned data load into Azure SQL database. (Full Load).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Design a Centralized automated pipeline with incremental load by using :-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</a:t>
            </a: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Lookup activity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Copy activity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Display log message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“ No new insertion”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</a:t>
            </a: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Schedule pipeline execution every two days at 8 PM using ADF trigger.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Action(STAR) cont..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Implement RBAC for secure data access.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Power BI Reporting and Analytics.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</a:t>
            </a: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Connect  Azure SQL Database to Power BI.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</a:t>
            </a: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Develop interactive and actionable dashboard for Loan, Deposit  and Clients Analysis by using different KPIs.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In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Data Modeling, Snowflake schema is used.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Dax measures are used.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Action(STAR)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Implement RBAC for secure data access.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Power BI Reporting and Analytics.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</a:t>
            </a: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Connect  Azure SQL Database to Power BI.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</a:t>
            </a: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Develop interactive and actionable dashboard for Loan, Deposit  and Clients Analysis by using different KPIs.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In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Data Modeling, Snowflake schema is used.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Dax measures are used.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Result(STAR)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Reporting time reduced significantly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Early identification of high-risk loans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Proactive action is taken to manage the risk.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Fasten the process of loan approval.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Aft>
                <a:spcPts val="799"/>
              </a:spcAft>
              <a:buNone/>
              <a:tabLst>
                <a:tab algn="l" pos="457200"/>
              </a:tabLst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Aft>
                <a:spcPts val="799"/>
              </a:spcAft>
              <a:buNone/>
              <a:tabLst>
                <a:tab algn="l" pos="457200"/>
              </a:tabLst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Challenges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Data Quality &amp; Consistency Issues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Handling Incremental Loads Accurately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Complex Business Logic Understanding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Wingdings" charset="2"/>
              <a:buChar char="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Security &amp; Compliance Constraints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Aft>
                <a:spcPts val="799"/>
              </a:spcAft>
              <a:buNone/>
              <a:tabLst>
                <a:tab algn="l" pos="457200"/>
              </a:tabLst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85000"/>
              </a:lnSpc>
              <a:buNone/>
            </a:pPr>
            <a:r>
              <a:rPr b="0" lang="en-US" sz="4800" spc="-51" strike="noStrike" u="none">
                <a:solidFill>
                  <a:srgbClr val="1a73e8"/>
                </a:solidFill>
                <a:effectLst/>
                <a:uFillTx/>
                <a:latin typeface="Segoe UI"/>
              </a:rPr>
              <a:t>Tools and Technologies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2013480"/>
            <a:ext cx="10139400" cy="4285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Power BI (DAX, modeling)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Azure SQL Database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Azure Data Factory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SQL Server / SSMS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Excel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Times New Roman"/>
              </a:rPr>
              <a:t>Azure Blob Storage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799"/>
              </a:spcAft>
              <a:buClr>
                <a:srgbClr val="e48312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Azure Data Factory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Aft>
                <a:spcPts val="799"/>
              </a:spcAft>
              <a:buNone/>
              <a:tabLst>
                <a:tab algn="l" pos="457200"/>
              </a:tabLst>
            </a:pP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</a:t>
            </a:r>
            <a:r>
              <a:rPr b="1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	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Calibri"/>
              </a:rPr>
              <a:t>                  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4"/>
          <p:cNvSpPr/>
          <p:nvPr/>
        </p:nvSpPr>
        <p:spPr>
          <a:xfrm>
            <a:off x="2763360" y="2868480"/>
            <a:ext cx="6095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1a73e8"/>
                </a:solidFill>
                <a:effectLst/>
                <a:uFillTx/>
                <a:latin typeface="Arial"/>
              </a:rPr>
              <a:t>Dashboard Walkthrough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Content Placeholder 5" descr=""/>
          <p:cNvPicPr/>
          <p:nvPr/>
        </p:nvPicPr>
        <p:blipFill>
          <a:blip r:embed="rId1"/>
          <a:stretch/>
        </p:blipFill>
        <p:spPr>
          <a:xfrm>
            <a:off x="660240" y="142200"/>
            <a:ext cx="10830240" cy="603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2" descr=""/>
          <p:cNvPicPr/>
          <p:nvPr/>
        </p:nvPicPr>
        <p:blipFill>
          <a:blip r:embed="rId1"/>
          <a:stretch/>
        </p:blipFill>
        <p:spPr>
          <a:xfrm>
            <a:off x="416520" y="101520"/>
            <a:ext cx="11429640" cy="621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2" descr=""/>
          <p:cNvPicPr/>
          <p:nvPr/>
        </p:nvPicPr>
        <p:blipFill>
          <a:blip r:embed="rId1"/>
          <a:stretch/>
        </p:blipFill>
        <p:spPr>
          <a:xfrm>
            <a:off x="254160" y="142200"/>
            <a:ext cx="11744640" cy="600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1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760" cy="712800"/>
          </a:xfrm>
          <a:prstGeom prst="rect">
            <a:avLst/>
          </a:prstGeom>
          <a:solidFill>
            <a:srgbClr val="14365c"/>
          </a:solidFill>
          <a:ln>
            <a:noFill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411480" y="10980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Azure Data Factory – ETL Workflow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3" descr="Capture.PNG"/>
          <p:cNvPicPr/>
          <p:nvPr/>
        </p:nvPicPr>
        <p:blipFill>
          <a:blip r:embed="rId1"/>
          <a:stretch/>
        </p:blipFill>
        <p:spPr>
          <a:xfrm>
            <a:off x="11201400" y="91440"/>
            <a:ext cx="44352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4"/>
          <p:cNvSpPr/>
          <p:nvPr/>
        </p:nvSpPr>
        <p:spPr>
          <a:xfrm>
            <a:off x="502920" y="84132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End-to-end data extraction, transformation, loading, and reporting flow used in the banking risk analytics solution.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5"/>
          <p:cNvSpPr/>
          <p:nvPr/>
        </p:nvSpPr>
        <p:spPr>
          <a:xfrm>
            <a:off x="411480" y="1417320"/>
            <a:ext cx="2239920" cy="3245760"/>
          </a:xfrm>
          <a:prstGeom prst="roundRect">
            <a:avLst>
              <a:gd name="adj" fmla="val 16667"/>
            </a:avLst>
          </a:prstGeom>
          <a:solidFill>
            <a:srgbClr val="f2f8fd"/>
          </a:solidFill>
          <a:ln w="15240">
            <a:solidFill>
              <a:srgbClr val="0078d4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548640" y="155448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365c"/>
                </a:solidFill>
                <a:effectLst/>
                <a:uFillTx/>
                <a:latin typeface="Aptos"/>
              </a:rPr>
              <a:t>1. Data Sources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594360" y="20116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Azure Blob Storage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594360" y="235008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CSV files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594360" y="28620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SQL Server / SSMS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594360" y="32004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Operational banking data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1"/>
          <p:cNvSpPr/>
          <p:nvPr/>
        </p:nvSpPr>
        <p:spPr>
          <a:xfrm>
            <a:off x="576000" y="3749040"/>
            <a:ext cx="191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Integration Runtime: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Auto Resolve + Self-hosted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2"/>
          <p:cNvSpPr/>
          <p:nvPr/>
        </p:nvSpPr>
        <p:spPr>
          <a:xfrm>
            <a:off x="3154680" y="1417320"/>
            <a:ext cx="3702960" cy="3245760"/>
          </a:xfrm>
          <a:prstGeom prst="roundRect">
            <a:avLst>
              <a:gd name="adj" fmla="val 16667"/>
            </a:avLst>
          </a:prstGeom>
          <a:solidFill>
            <a:srgbClr val="e1f1ff"/>
          </a:solidFill>
          <a:ln w="15240">
            <a:solidFill>
              <a:srgbClr val="0078d4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3"/>
          <p:cNvSpPr/>
          <p:nvPr/>
        </p:nvSpPr>
        <p:spPr>
          <a:xfrm>
            <a:off x="3291840" y="152712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365c"/>
                </a:solidFill>
                <a:effectLst/>
                <a:uFillTx/>
                <a:latin typeface="Aptos"/>
              </a:rPr>
              <a:t>2. Azure Data Factory Pipeline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4"/>
          <p:cNvSpPr/>
          <p:nvPr/>
        </p:nvSpPr>
        <p:spPr>
          <a:xfrm>
            <a:off x="3474720" y="2011680"/>
            <a:ext cx="30628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abed2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5"/>
          <p:cNvSpPr/>
          <p:nvPr/>
        </p:nvSpPr>
        <p:spPr>
          <a:xfrm>
            <a:off x="3593520" y="20300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Extract &amp; Ingest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6"/>
          <p:cNvSpPr/>
          <p:nvPr/>
        </p:nvSpPr>
        <p:spPr>
          <a:xfrm>
            <a:off x="4818960" y="20300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Copy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7"/>
          <p:cNvSpPr/>
          <p:nvPr/>
        </p:nvSpPr>
        <p:spPr>
          <a:xfrm>
            <a:off x="3474720" y="2487240"/>
            <a:ext cx="30628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abed2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8"/>
          <p:cNvSpPr/>
          <p:nvPr/>
        </p:nvSpPr>
        <p:spPr>
          <a:xfrm>
            <a:off x="3593520" y="250560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Data Quality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9"/>
          <p:cNvSpPr/>
          <p:nvPr/>
        </p:nvSpPr>
        <p:spPr>
          <a:xfrm>
            <a:off x="4818960" y="25056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Nulls • duplicates • data types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20"/>
          <p:cNvSpPr/>
          <p:nvPr/>
        </p:nvSpPr>
        <p:spPr>
          <a:xfrm>
            <a:off x="3474720" y="2962800"/>
            <a:ext cx="30628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abed2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1"/>
          <p:cNvSpPr/>
          <p:nvPr/>
        </p:nvSpPr>
        <p:spPr>
          <a:xfrm>
            <a:off x="3593520" y="298080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Transform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2"/>
          <p:cNvSpPr/>
          <p:nvPr/>
        </p:nvSpPr>
        <p:spPr>
          <a:xfrm>
            <a:off x="4818960" y="29808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Mapping Data Flow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23"/>
          <p:cNvSpPr/>
          <p:nvPr/>
        </p:nvSpPr>
        <p:spPr>
          <a:xfrm>
            <a:off x="3474720" y="3438000"/>
            <a:ext cx="30628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abed2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4"/>
          <p:cNvSpPr/>
          <p:nvPr/>
        </p:nvSpPr>
        <p:spPr>
          <a:xfrm>
            <a:off x="3593520" y="345636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Enrich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5"/>
          <p:cNvSpPr/>
          <p:nvPr/>
        </p:nvSpPr>
        <p:spPr>
          <a:xfrm>
            <a:off x="4818960" y="345636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Derived columns + business logic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26"/>
          <p:cNvSpPr/>
          <p:nvPr/>
        </p:nvSpPr>
        <p:spPr>
          <a:xfrm>
            <a:off x="3474720" y="3913560"/>
            <a:ext cx="30628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abed2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27"/>
          <p:cNvSpPr/>
          <p:nvPr/>
        </p:nvSpPr>
        <p:spPr>
          <a:xfrm>
            <a:off x="3593520" y="393192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Load Control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8"/>
          <p:cNvSpPr/>
          <p:nvPr/>
        </p:nvSpPr>
        <p:spPr>
          <a:xfrm>
            <a:off x="4818960" y="39319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Lookup • incremental load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9"/>
          <p:cNvSpPr/>
          <p:nvPr/>
        </p:nvSpPr>
        <p:spPr>
          <a:xfrm>
            <a:off x="3474720" y="4416480"/>
            <a:ext cx="3062880" cy="411120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5240">
            <a:solidFill>
              <a:srgbClr val="dc7d1e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30"/>
          <p:cNvSpPr/>
          <p:nvPr/>
        </p:nvSpPr>
        <p:spPr>
          <a:xfrm>
            <a:off x="3593520" y="447156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dc7d1e"/>
                </a:solidFill>
                <a:effectLst/>
                <a:uFillTx/>
                <a:latin typeface="Aptos"/>
              </a:rPr>
              <a:t>Trigger: every 2 days at 8:00 PM • “No new insertion” when no new rows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31"/>
          <p:cNvSpPr/>
          <p:nvPr/>
        </p:nvSpPr>
        <p:spPr>
          <a:xfrm>
            <a:off x="7452360" y="1417320"/>
            <a:ext cx="2148480" cy="3245760"/>
          </a:xfrm>
          <a:prstGeom prst="roundRect">
            <a:avLst>
              <a:gd name="adj" fmla="val 16667"/>
            </a:avLst>
          </a:prstGeom>
          <a:solidFill>
            <a:srgbClr val="edf8f0"/>
          </a:solidFill>
          <a:ln w="15240">
            <a:solidFill>
              <a:srgbClr val="2a8757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32"/>
          <p:cNvSpPr/>
          <p:nvPr/>
        </p:nvSpPr>
        <p:spPr>
          <a:xfrm>
            <a:off x="7562160" y="1563480"/>
            <a:ext cx="192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a8757"/>
                </a:solidFill>
                <a:effectLst/>
                <a:uFillTx/>
                <a:latin typeface="Aptos"/>
              </a:rPr>
              <a:t>3. Azure SQL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3"/>
          <p:cNvSpPr/>
          <p:nvPr/>
        </p:nvSpPr>
        <p:spPr>
          <a:xfrm>
            <a:off x="7616880" y="2130480"/>
            <a:ext cx="1819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1" lang="en-US" sz="14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Centralized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clean data store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4"/>
          <p:cNvSpPr/>
          <p:nvPr/>
        </p:nvSpPr>
        <p:spPr>
          <a:xfrm>
            <a:off x="7616880" y="2990160"/>
            <a:ext cx="1819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300" strike="noStrike" u="none">
                <a:solidFill>
                  <a:srgbClr val="2a8757"/>
                </a:solidFill>
                <a:effectLst/>
                <a:uFillTx/>
                <a:latin typeface="Aptos"/>
              </a:rPr>
              <a:t>Full load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2a8757"/>
                </a:solidFill>
                <a:effectLst/>
                <a:uFillTx/>
                <a:latin typeface="Aptos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2a8757"/>
                </a:solidFill>
                <a:effectLst/>
                <a:uFillTx/>
                <a:latin typeface="Aptos"/>
              </a:rPr>
              <a:t>Incremental load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5"/>
          <p:cNvSpPr/>
          <p:nvPr/>
        </p:nvSpPr>
        <p:spPr>
          <a:xfrm>
            <a:off x="7616880" y="3904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RBAC-secured access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36"/>
          <p:cNvSpPr/>
          <p:nvPr/>
        </p:nvSpPr>
        <p:spPr>
          <a:xfrm>
            <a:off x="10012680" y="1417320"/>
            <a:ext cx="1691280" cy="3245760"/>
          </a:xfrm>
          <a:prstGeom prst="roundRect">
            <a:avLst>
              <a:gd name="adj" fmla="val 16667"/>
            </a:avLst>
          </a:prstGeom>
          <a:solidFill>
            <a:srgbClr val="fff8e0"/>
          </a:solidFill>
          <a:ln w="15240">
            <a:solidFill>
              <a:srgbClr val="dc7d1e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7"/>
          <p:cNvSpPr/>
          <p:nvPr/>
        </p:nvSpPr>
        <p:spPr>
          <a:xfrm>
            <a:off x="10104120" y="15634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dc7d1e"/>
                </a:solidFill>
                <a:effectLst/>
                <a:uFillTx/>
                <a:latin typeface="Aptos"/>
              </a:rPr>
              <a:t>4. Power BI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8"/>
          <p:cNvSpPr/>
          <p:nvPr/>
        </p:nvSpPr>
        <p:spPr>
          <a:xfrm>
            <a:off x="10149840" y="220356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1" lang="en-US" sz="14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Interactive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8323c"/>
                </a:solidFill>
                <a:effectLst/>
                <a:uFillTx/>
                <a:latin typeface="Aptos"/>
              </a:rPr>
              <a:t>risk dashboard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9"/>
          <p:cNvSpPr/>
          <p:nvPr/>
        </p:nvSpPr>
        <p:spPr>
          <a:xfrm>
            <a:off x="10149840" y="3154680"/>
            <a:ext cx="1416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Loan • Deposit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Client KPIs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DAX + Snowflake model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40"/>
          <p:cNvCxnSpPr/>
          <p:nvPr/>
        </p:nvCxnSpPr>
        <p:spPr>
          <a:xfrm>
            <a:off x="2651760" y="3040200"/>
            <a:ext cx="503280" cy="360"/>
          </a:xfrm>
          <a:prstGeom prst="straightConnector1">
            <a:avLst/>
          </a:prstGeom>
          <a:ln w="31750">
            <a:solidFill>
              <a:srgbClr val="0078d4"/>
            </a:solidFill>
            <a:round/>
          </a:ln>
        </p:spPr>
      </p:cxnSp>
      <p:cxnSp>
        <p:nvCxnSpPr>
          <p:cNvPr id="182" name="Connector 41"/>
          <p:cNvCxnSpPr/>
          <p:nvPr/>
        </p:nvCxnSpPr>
        <p:spPr>
          <a:xfrm>
            <a:off x="6858000" y="3040200"/>
            <a:ext cx="594720" cy="360"/>
          </a:xfrm>
          <a:prstGeom prst="straightConnector1">
            <a:avLst/>
          </a:prstGeom>
          <a:ln w="31750">
            <a:solidFill>
              <a:srgbClr val="0078d4"/>
            </a:solidFill>
            <a:round/>
          </a:ln>
        </p:spPr>
      </p:cxnSp>
      <p:cxnSp>
        <p:nvCxnSpPr>
          <p:cNvPr id="183" name="Connector 42"/>
          <p:cNvCxnSpPr/>
          <p:nvPr/>
        </p:nvCxnSpPr>
        <p:spPr>
          <a:xfrm>
            <a:off x="9601200" y="3040200"/>
            <a:ext cx="411840" cy="360"/>
          </a:xfrm>
          <a:prstGeom prst="straightConnector1">
            <a:avLst/>
          </a:prstGeom>
          <a:ln w="31750">
            <a:solidFill>
              <a:srgbClr val="0078d4"/>
            </a:solidFill>
            <a:round/>
          </a:ln>
        </p:spPr>
      </p:cxnSp>
      <p:sp>
        <p:nvSpPr>
          <p:cNvPr id="184" name="TextBox 43"/>
          <p:cNvSpPr/>
          <p:nvPr/>
        </p:nvSpPr>
        <p:spPr>
          <a:xfrm>
            <a:off x="2541960" y="1234440"/>
            <a:ext cx="59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Extract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44"/>
          <p:cNvSpPr/>
          <p:nvPr/>
        </p:nvSpPr>
        <p:spPr>
          <a:xfrm>
            <a:off x="6885360" y="1234440"/>
            <a:ext cx="59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Load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5"/>
          <p:cNvSpPr/>
          <p:nvPr/>
        </p:nvSpPr>
        <p:spPr>
          <a:xfrm>
            <a:off x="9619560" y="1234440"/>
            <a:ext cx="59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0078d4"/>
                </a:solidFill>
                <a:effectLst/>
                <a:uFillTx/>
                <a:latin typeface="Aptos"/>
              </a:rPr>
              <a:t>Report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46"/>
          <p:cNvSpPr/>
          <p:nvPr/>
        </p:nvSpPr>
        <p:spPr>
          <a:xfrm>
            <a:off x="502920" y="4983480"/>
            <a:ext cx="11018160" cy="749520"/>
          </a:xfrm>
          <a:prstGeom prst="roundRect">
            <a:avLst>
              <a:gd name="adj" fmla="val 16667"/>
            </a:avLst>
          </a:prstGeom>
          <a:solidFill>
            <a:srgbClr val="14365c"/>
          </a:solidFill>
          <a:ln w="15240">
            <a:solidFill>
              <a:srgbClr val="14365c"/>
            </a:solidFill>
            <a:round/>
          </a:ln>
          <a:effectLst>
            <a:outerShdw algn="br" blurRad="38160" dir="2700000" dist="25455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47"/>
          <p:cNvSpPr/>
          <p:nvPr/>
        </p:nvSpPr>
        <p:spPr>
          <a:xfrm>
            <a:off x="713160" y="509328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ETL outcome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8"/>
          <p:cNvSpPr/>
          <p:nvPr/>
        </p:nvSpPr>
        <p:spPr>
          <a:xfrm>
            <a:off x="713160" y="5349240"/>
            <a:ext cx="1060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Reliable centralized data • Better data quality • Faster reporting • Earlier identification of high-risk loans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49"/>
          <p:cNvSpPr/>
          <p:nvPr/>
        </p:nvSpPr>
        <p:spPr>
          <a:xfrm>
            <a:off x="502920" y="614484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5f6973"/>
                </a:solidFill>
                <a:effectLst/>
                <a:uFillTx/>
                <a:latin typeface="Aptos"/>
              </a:rPr>
              <a:t>Banking Risk Analytics | Azure Data Factory | Full + Incremental Load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6161</TotalTime>
  <Application>LibreOffice/25.2.3.2$Linux_X86_64 LibreOffice_project/520$Build-2</Application>
  <AppVersion>15.0000</AppVersion>
  <Words>722</Words>
  <Paragraphs>144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2026-01-30T16:07:15Z</dcterms:created>
  <dc:creator>Gagan Garcha</dc:creator>
  <dc:description/>
  <dc:language>en-US</dc:language>
  <cp:lastModifiedBy>Gagan Garcha</cp:lastModifiedBy>
  <dcterms:modified xsi:type="dcterms:W3CDTF">2026-02-24T20:38:53Z</dcterms:modified>
  <cp:revision>45</cp:revision>
  <dc:subject/>
  <dc:title>Banking Risk Analytics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19</vt:r8>
  </property>
</Properties>
</file>