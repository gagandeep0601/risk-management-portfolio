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75" r:id="rId3"/>
    <p:sldId id="257" r:id="rId4"/>
    <p:sldId id="259" r:id="rId5"/>
    <p:sldId id="258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276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4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23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8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29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1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449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0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1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1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1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8072BD5-17D6-4784-8665-CD94D0A989A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E8324CF-BE36-42FD-B090-66648009D36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896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Desjardins+Credit+Union&amp;sca_esv=62b03b7345eac9c6&amp;sxsrf=ANbL-n7DSpr-LO3w9I2LT3fVGZZhAbypIA%3A1771965025445&amp;ei=YQqeaffkGoTLp84Pu63DiAk&amp;biw=1536&amp;bih=776&amp;ved=2ahUKEwjD5vKa_PKSAxU638kDHfpsB74QgK4QegQIBRAB&amp;uact=5&amp;oq=meridian+credit+union+detail&amp;gs_lp=Egxnd3Mtd2l6LXNlcnAiHG1lcmlkaWFuIGNyZWRpdCB1bmlvbiBkZXRhaWwyBRAhGKABMgUQIRigAUjjHlC1BVjkHHABeAGQAQCYAaEBoAHjBqoBAzMuNbgBA8gBAPgBAZgCCaACsAfCAgoQABiwAxjWBBhHwgIEECMYJ8ICChAjGIAEGCcYigXCAgoQABiABBhDGIoFwgIREC4YgAQYsQMY0QMYgwEYxwHCAgUQABiABMICCBAAGIAEGJIDwgIIEAAYgAQYyQPCAgsQLhiABBjHARivAcICFBAuGIAEGJECGMcBGIoFGI4FGK8BwgILEAAYgAQYkQIYigXCAgYQABgWGB7CAgQQIRgVwgIFECEYnwWYAwCIBgGQBgiSBwMzLjagB5czsgcDMi42uAeiB8IHBzAuMy4zLjPIBzaACAA&amp;sclient=gws-wiz-serp&amp;mstk=AUtExfCNulqGdhshFpHSc67yif6zdgmxy6WSzX-zbgxxZj7p5tmLrmV-fQ-BwIPa-ePH_vrqtBtQWu_567WUZx8N3c6oOCT9p2yaKgdVAak3oKKFlragzs7Q2cEWmG6ZzTykqdFv1ffv1O42ucuB3u6tQQWNo33g0Bkw47XqJ0QFftNtF57j-Ojhls6DS1P9VYtgBnY441y61PZhsWAzwpEi6UdXbEy_fJyzLmXthlDzz3Rn87u2q8cWgfNRzT2sizRP0M1KQZzjAORdt75HK60TcF1rrJPSMhYa-sRSyhRZgU4Yqag7uEV4avF4a2qwV7SGLJZkIKyE47LzaYZLMuJfJ8oAE8tb9MrW871dIFjbjyX2Qo9WXvCBmvYD57OOsJ1IOQ&amp;csui=3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922EE-C17D-4E12-8376-FB71476B7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Banking Risk Analytics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33581-46E7-40FB-B7A0-9C422268A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7676" y="4647500"/>
            <a:ext cx="5240323" cy="610299"/>
          </a:xfrm>
        </p:spPr>
        <p:txBody>
          <a:bodyPr/>
          <a:lstStyle/>
          <a:p>
            <a:r>
              <a:rPr lang="en-US" dirty="0"/>
              <a:t>Role – Data Analyst </a:t>
            </a:r>
          </a:p>
        </p:txBody>
      </p:sp>
      <p:pic>
        <p:nvPicPr>
          <p:cNvPr id="1026" name="Picture 2" descr="MERIDIAN CREDIT UNION - Updated February 2026 - 4080 Steeles Ave E,  Markham, Ontario - Banks &amp; Credit Unions - Phone Number - Yelp">
            <a:extLst>
              <a:ext uri="{FF2B5EF4-FFF2-40B4-BE49-F238E27FC236}">
                <a16:creationId xmlns:a16="http://schemas.microsoft.com/office/drawing/2014/main" id="{27A82D63-9EA5-48D9-A8E9-86AA2F303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832" y="569226"/>
            <a:ext cx="3020037" cy="247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733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63E2-98C0-47D3-8CA0-2FB2717E2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About Company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61FB-8FFC-4DE9-981B-8F73EE551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/>
            <a:r>
              <a:rPr lang="en-US" b="1" i="0" dirty="0">
                <a:solidFill>
                  <a:srgbClr val="333132"/>
                </a:solidFill>
                <a:effectLst/>
                <a:latin typeface="sofia-pro"/>
              </a:rPr>
              <a:t>Meridian is Ontario’s largest credit union, and second largest in Canada, helping to grow the lives of more than 360,000 Members.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Origins: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Formed in 2011 through a merger involving the former </a:t>
            </a:r>
            <a:r>
              <a:rPr lang="en-US" b="1" i="0" dirty="0">
                <a:solidFill>
                  <a:schemeClr val="tx1"/>
                </a:solidFill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Desjardins Credit Union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in Ontario.</a:t>
            </a:r>
            <a:endParaRPr lang="en-US" b="1" i="0" dirty="0">
              <a:solidFill>
                <a:srgbClr val="333132"/>
              </a:solidFill>
              <a:effectLst/>
              <a:latin typeface="sofia-pr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132"/>
                </a:solidFill>
                <a:effectLst/>
                <a:latin typeface="sofia-pro"/>
              </a:rPr>
              <a:t>87 branches and 15 Business Banking Centers across Ontario.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132"/>
                </a:solidFill>
                <a:effectLst/>
                <a:latin typeface="sofia-pro"/>
              </a:rPr>
              <a:t>On-Balance Sheet Assets: $26.8 billion More than 75 years of banking history.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132"/>
                </a:solidFill>
                <a:effectLst/>
                <a:latin typeface="SofiaProRegular"/>
              </a:rPr>
              <a:t>2,100+</a:t>
            </a:r>
            <a:r>
              <a:rPr lang="en-US" b="0" i="0" dirty="0">
                <a:solidFill>
                  <a:srgbClr val="333132"/>
                </a:solidFill>
                <a:effectLst/>
                <a:latin typeface="sofia-pro"/>
              </a:rPr>
              <a:t> employees at Meridian Credit Union.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132"/>
                </a:solidFill>
                <a:effectLst/>
                <a:latin typeface="sofia-pro"/>
              </a:rPr>
              <a:t>Meridian Credit Union Corporate offices in St. </a:t>
            </a:r>
            <a:r>
              <a:rPr lang="en-US" b="0" i="0" dirty="0" err="1">
                <a:solidFill>
                  <a:srgbClr val="333132"/>
                </a:solidFill>
                <a:effectLst/>
                <a:latin typeface="sofia-pro"/>
              </a:rPr>
              <a:t>Catharines</a:t>
            </a:r>
            <a:r>
              <a:rPr lang="en-US" b="0" i="0" dirty="0">
                <a:solidFill>
                  <a:srgbClr val="333132"/>
                </a:solidFill>
                <a:effectLst/>
                <a:latin typeface="sofia-pro"/>
              </a:rPr>
              <a:t> and Toronto.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Subsidiaries: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Meridian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Google Sans"/>
              </a:rPr>
              <a:t>OneCap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 Credit Corp and the digital-only bank,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Google Sans"/>
              </a:rPr>
              <a:t>motusbank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132"/>
              </a:solidFill>
              <a:effectLst/>
              <a:latin typeface="sofia-pr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07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703E-A3A2-4E51-BC00-1644D5B0C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 Team Structure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A232CC-E794-4EC5-9709-9C7BAF3BB0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4459" y="1922838"/>
            <a:ext cx="998122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Business Analyst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Data Engineer(3)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Cloud/Infrastructure Engineer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BI Data Analyst (2) </a:t>
            </a:r>
            <a:endParaRPr kumimoji="0" lang="en-US" altLang="en-US" sz="1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Risk Analyst </a:t>
            </a:r>
            <a:endParaRPr kumimoji="0" lang="en-US" altLang="en-US" sz="1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Tester (QA)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Scrum Master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 Owner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51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0E1E3-3521-43A6-9CED-8B6980D81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 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95A70-498F-41F7-9ED4-EBFC0D7B8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Built an end-to-end banking analytics solution using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Azure Data Factory, Azure SQL, and Power BI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Design a interactive dashboard to deliver real-time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credit risk insights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improve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decision-making.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Project supports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full load and incremental load.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Solution meets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business values.</a:t>
            </a:r>
          </a:p>
        </p:txBody>
      </p:sp>
    </p:spTree>
    <p:extLst>
      <p:ext uri="{BB962C8B-B14F-4D97-AF65-F5344CB8AC3E}">
        <p14:creationId xmlns:p14="http://schemas.microsoft.com/office/powerpoint/2010/main" val="429407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09882-F34B-42EB-B58D-F80CF0B53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9825"/>
            <a:ext cx="10058400" cy="145075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 Project Architecture Overview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B8C66E-19FB-4617-92BC-FB0E7925C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278030"/>
            <a:ext cx="10058400" cy="3728223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0FC4311-BEED-4902-AC82-A71AC5F52A4C}"/>
              </a:ext>
            </a:extLst>
          </p:cNvPr>
          <p:cNvSpPr txBox="1">
            <a:spLocks/>
          </p:cNvSpPr>
          <p:nvPr/>
        </p:nvSpPr>
        <p:spPr>
          <a:xfrm>
            <a:off x="1273448" y="1908914"/>
            <a:ext cx="9706063" cy="369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End-to-End Data Analytics Workflow (Azure + Power BI)</a:t>
            </a:r>
          </a:p>
        </p:txBody>
      </p:sp>
    </p:spTree>
    <p:extLst>
      <p:ext uri="{BB962C8B-B14F-4D97-AF65-F5344CB8AC3E}">
        <p14:creationId xmlns:p14="http://schemas.microsoft.com/office/powerpoint/2010/main" val="329361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C91-9271-4A61-882C-402ADF06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Situation (STAR)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3F4E-514D-4F45-B7C7-1474E0C0C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358"/>
            <a:ext cx="10058400" cy="38557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Bank generate revenue by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lending.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Every loan carries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risk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due to delay or failure of repayment.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Manual reporting was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difficult and inaccurate.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Limited Visibility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into high risk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Delay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improper decision making process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due to large number of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Overall impact on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Risk Management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loan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approval process.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High risk of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financial loss and liquidity imbalance.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1411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C91-9271-4A61-882C-402ADF06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Task(STAR)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3F4E-514D-4F45-B7C7-1474E0C0C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358"/>
            <a:ext cx="10058400" cy="38557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Collect the data from heterogenous sources.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Build centralized pipeline with incremental load.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Perform data quality and transformation.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Ensure data security based on RBAC.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Define meaningful and interactive KPI’s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Support agile delivery with clear reporting requirements</a:t>
            </a:r>
          </a:p>
        </p:txBody>
      </p:sp>
    </p:spTree>
    <p:extLst>
      <p:ext uri="{BB962C8B-B14F-4D97-AF65-F5344CB8AC3E}">
        <p14:creationId xmlns:p14="http://schemas.microsoft.com/office/powerpoint/2010/main" val="3352381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C91-9271-4A61-882C-402ADF06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Action(STAR)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3F4E-514D-4F45-B7C7-1474E0C0C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358"/>
            <a:ext cx="10058400" cy="3855736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Data Extraction and Ingestion</a:t>
            </a:r>
          </a:p>
          <a:p>
            <a:pPr marL="0" indent="0">
              <a:buNone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After the approval of feasibility study, data is extracted and load into and ADF pipelines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	           Azure blob storage( CSV)  - Auto Resolve Integration Runtime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SQL Server Management Studio -  Self-hosted runtime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Data Quality and Transformation</a:t>
            </a:r>
          </a:p>
          <a:p>
            <a:pPr marL="0" indent="0">
              <a:buNone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Remove missing and null values.</a:t>
            </a:r>
          </a:p>
          <a:p>
            <a:pPr marL="0" indent="0">
              <a:buNone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Handle Duplicate records.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               Applied data Type casting and standardization.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               Add derived columns with Business logics.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               Used ADF mapping data flow to sort, aggregate and join the tables.</a:t>
            </a:r>
          </a:p>
          <a:p>
            <a:pPr marL="0" indent="0">
              <a:buNone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</a:p>
          <a:p>
            <a:pPr marL="0" indent="0">
              <a:buNone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833908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C91-9271-4A61-882C-402ADF06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Action(STAR) 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3F4E-514D-4F45-B7C7-1474E0C0C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358"/>
            <a:ext cx="10139680" cy="428584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Business Calculations and Enrichments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Add following conditional columns according to  Business perspective by using derived column activity in ADF.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     Income Category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Engagement Days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Engagement timeframe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Cleaned data load into Azure SQL database. (Full Load).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Design a Centralized automated pipeline with incremental load by using :- 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Lookup activity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Copy activity 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Display log message 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“ No new insertion”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Schedule pipeline execution every two days at 8 PM using ADF trigger.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	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28971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C91-9271-4A61-882C-402ADF06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Action(STAR) 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3F4E-514D-4F45-B7C7-1474E0C0C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358"/>
            <a:ext cx="10139680" cy="428584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Implement RBAC for secure data access.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Power BI Reporting and Analytics.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Connect  Azure SQL Database to Power BI.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Develop interactive and actionable dashboard for Loan, Deposit  and Clients Analysis by using different KPIs.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 Modeling, Snowflake schema is used.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Dax measures are used.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	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79061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C91-9271-4A61-882C-402ADF06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Action(STAR)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3F4E-514D-4F45-B7C7-1474E0C0C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358"/>
            <a:ext cx="10139680" cy="428584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Implement RBAC for secure data access.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Power BI Reporting and Analytics.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Connect  Azure SQL Database to Power BI.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Develop interactive and actionable dashboard for Loan, Deposit  and Clients Analysis by using different KPIs.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 Modeling, Snowflake schema is used.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Dax measures are used.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	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843577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C91-9271-4A61-882C-402ADF06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Result(STAR)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3F4E-514D-4F45-B7C7-1474E0C0C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358"/>
            <a:ext cx="10139680" cy="4285842"/>
          </a:xfrm>
        </p:spPr>
        <p:txBody>
          <a:bodyPr>
            <a:no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Reporting time reduced significantly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Early identification of high-risk loans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Proactive action is taken to manage the risk.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Fasten the process of loan approval.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	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870061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C91-9271-4A61-882C-402ADF06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3F4E-514D-4F45-B7C7-1474E0C0C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358"/>
            <a:ext cx="10139680" cy="4285842"/>
          </a:xfrm>
        </p:spPr>
        <p:txBody>
          <a:bodyPr>
            <a:no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Quality &amp; Consistency Issues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Handling Incremental Loads Accurately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Complex Business Logic Understanding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Security &amp; Compliance Constraints</a:t>
            </a:r>
            <a:endParaRPr lang="en-US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	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77744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C91-9271-4A61-882C-402ADF06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A73E8"/>
                </a:solidFill>
                <a:latin typeface="Segoe UI" panose="020B0502040204020203" pitchFamily="34" charset="0"/>
              </a:rPr>
              <a:t>Tools and Technologies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3F4E-514D-4F45-B7C7-1474E0C0C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358"/>
            <a:ext cx="10139680" cy="4285842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Power BI (DAX, modeling)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Azure SQL Database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Azure Data Factory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SQL Server / SSMS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Excel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Azure Blob Storage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Azure Data Factory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	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129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D5627F-8A10-4C76-8D29-9419C1E17B09}"/>
              </a:ext>
            </a:extLst>
          </p:cNvPr>
          <p:cNvSpPr txBox="1"/>
          <p:nvPr/>
        </p:nvSpPr>
        <p:spPr>
          <a:xfrm>
            <a:off x="2763520" y="28684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1A73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Walkthrough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189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2E9627C7-7B43-4AF7-8E5B-F2578982E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42256"/>
            <a:ext cx="10830560" cy="60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26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447C69-D39B-4D75-915B-B76B0A6AE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" y="101600"/>
            <a:ext cx="11429999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16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892498-0933-4721-B015-76F64CF0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42240"/>
            <a:ext cx="11744959" cy="60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25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494B1B-4DA2-46C2-AF7A-D375E620E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5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601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6161</TotalTime>
  <Words>722</Words>
  <Application>Microsoft Office PowerPoint</Application>
  <PresentationFormat>Widescreen</PresentationFormat>
  <Paragraphs>144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Calibri Light</vt:lpstr>
      <vt:lpstr>Google Sans</vt:lpstr>
      <vt:lpstr>Segoe UI</vt:lpstr>
      <vt:lpstr>sofia-pro</vt:lpstr>
      <vt:lpstr>SofiaProRegular</vt:lpstr>
      <vt:lpstr>Symbol</vt:lpstr>
      <vt:lpstr>Wingdings</vt:lpstr>
      <vt:lpstr>Retrospect</vt:lpstr>
      <vt:lpstr>Banking Risk Analytics </vt:lpstr>
      <vt:lpstr>About Company </vt:lpstr>
      <vt:lpstr> Team Structure</vt:lpstr>
      <vt:lpstr> Project Overview</vt:lpstr>
      <vt:lpstr> Project Architecture Overview</vt:lpstr>
      <vt:lpstr>Situation (STAR)</vt:lpstr>
      <vt:lpstr>Task(STAR)</vt:lpstr>
      <vt:lpstr>Action(STAR)</vt:lpstr>
      <vt:lpstr>Action(STAR) cont..</vt:lpstr>
      <vt:lpstr>Action(STAR) cont..</vt:lpstr>
      <vt:lpstr>Action(STAR)</vt:lpstr>
      <vt:lpstr>Result(STAR)</vt:lpstr>
      <vt:lpstr>Challenges</vt:lpstr>
      <vt:lpstr>Tools and Technologies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Risk Analytics</dc:title>
  <dc:creator>Gagan Garcha</dc:creator>
  <cp:lastModifiedBy>Gagan Garcha</cp:lastModifiedBy>
  <cp:revision>45</cp:revision>
  <dcterms:created xsi:type="dcterms:W3CDTF">2026-01-30T16:07:15Z</dcterms:created>
  <dcterms:modified xsi:type="dcterms:W3CDTF">2026-02-24T20:38:53Z</dcterms:modified>
</cp:coreProperties>
</file>